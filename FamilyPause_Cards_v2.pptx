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8763000"/>
  <p:notesSz cx="8763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80000">
            <a:off x="3518185" y="301489"/>
            <a:ext cx="3276600" cy="4533900"/>
          </a:xfrm>
          <a:prstGeom prst="roundRect">
            <a:avLst>
              <a:gd name="adj" fmla="val 5814"/>
            </a:avLst>
          </a:prstGeom>
          <a:solidFill>
            <a:srgbClr val="BE6038"/>
          </a:solidFill>
          <a:ln/>
          <a:effectLst>
            <a:outerShdw sx="100000" sy="100000" kx="0" ky="0" algn="bl" rotWithShape="0" blurRad="476250" dist="152400" dir="5400000">
              <a:srgbClr val="2E282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192718" y="1322984"/>
            <a:ext cx="136470" cy="9525"/>
          </a:xfrm>
          <a:prstGeom prst="rect">
            <a:avLst/>
          </a:prstGeom>
          <a:solidFill>
            <a:srgbClr val="FAF3EC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92718" y="1322984"/>
            <a:ext cx="9525" cy="136471"/>
          </a:xfrm>
          <a:prstGeom prst="rect">
            <a:avLst/>
          </a:prstGeom>
          <a:solidFill>
            <a:srgbClr val="FAF3EC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855823" y="1235825"/>
            <a:ext cx="136471" cy="9525"/>
          </a:xfrm>
          <a:prstGeom prst="rect">
            <a:avLst/>
          </a:prstGeom>
          <a:solidFill>
            <a:srgbClr val="FAF3EC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84612" y="1235825"/>
            <a:ext cx="9525" cy="136470"/>
          </a:xfrm>
          <a:prstGeom prst="rect">
            <a:avLst/>
          </a:prstGeom>
          <a:solidFill>
            <a:srgbClr val="FAF3EC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320677" y="3893371"/>
            <a:ext cx="136470" cy="9525"/>
          </a:xfrm>
          <a:prstGeom prst="rect">
            <a:avLst/>
          </a:prstGeom>
          <a:solidFill>
            <a:srgbClr val="FAF3EC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320677" y="3764582"/>
            <a:ext cx="9525" cy="136471"/>
          </a:xfrm>
          <a:prstGeom prst="rect">
            <a:avLst/>
          </a:prstGeom>
          <a:solidFill>
            <a:srgbClr val="FAF3EC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983781" y="3806211"/>
            <a:ext cx="136471" cy="9525"/>
          </a:xfrm>
          <a:prstGeom prst="rect">
            <a:avLst/>
          </a:prstGeom>
          <a:solidFill>
            <a:srgbClr val="FAF3EC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12571" y="3677422"/>
            <a:ext cx="9525" cy="136470"/>
          </a:xfrm>
          <a:prstGeom prst="rect">
            <a:avLst/>
          </a:prstGeom>
          <a:solidFill>
            <a:srgbClr val="FAF3EC">
              <a:alpha val="50000"/>
            </a:srgb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2831" y="1452839"/>
            <a:ext cx="1586234" cy="221210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617802" y="2302205"/>
            <a:ext cx="1064354" cy="322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i="1" dirty="0">
                <a:solidFill>
                  <a:srgbClr val="FAF3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FamilyPause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4977876" y="2639674"/>
            <a:ext cx="365923" cy="25032"/>
          </a:xfrm>
          <a:prstGeom prst="rect">
            <a:avLst/>
          </a:prstGeom>
          <a:solidFill>
            <a:srgbClr val="FAF3EC">
              <a:alpha val="5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4701632" y="2715378"/>
            <a:ext cx="931184" cy="1540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182" kern="0" dirty="0">
                <a:solidFill>
                  <a:srgbClr val="FAF3EC">
                    <a:alpha val="8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 DECK · 2026</a:t>
            </a:r>
            <a:endParaRPr lang="en-US" sz="825" dirty="0"/>
          </a:p>
        </p:txBody>
      </p:sp>
      <p:sp>
        <p:nvSpPr>
          <p:cNvPr id="15" name="Shape 12"/>
          <p:cNvSpPr/>
          <p:nvPr/>
        </p:nvSpPr>
        <p:spPr>
          <a:xfrm rot="180000">
            <a:off x="5702015" y="271961"/>
            <a:ext cx="3276600" cy="4533900"/>
          </a:xfrm>
          <a:prstGeom prst="roundRect">
            <a:avLst>
              <a:gd name="adj" fmla="val 5814"/>
            </a:avLst>
          </a:prstGeom>
          <a:solidFill>
            <a:srgbClr val="FBF6EC"/>
          </a:solidFill>
          <a:ln/>
          <a:effectLst>
            <a:outerShdw sx="100000" sy="100000" kx="0" ky="0" algn="bl" rotWithShape="0" blurRad="476250" dist="152400" dir="5400000">
              <a:srgbClr val="2E282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52434" y="1082183"/>
            <a:ext cx="188359" cy="2809300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17" name="Shape 14"/>
          <p:cNvSpPr/>
          <p:nvPr/>
        </p:nvSpPr>
        <p:spPr>
          <a:xfrm>
            <a:off x="6591511" y="1334983"/>
            <a:ext cx="1663529" cy="9525"/>
          </a:xfrm>
          <a:prstGeom prst="rect">
            <a:avLst/>
          </a:prstGeom>
          <a:solidFill>
            <a:srgbClr val="CBA877"/>
          </a:solidFill>
          <a:ln/>
        </p:spPr>
      </p:sp>
      <p:sp>
        <p:nvSpPr>
          <p:cNvPr id="18" name="Shape 15"/>
          <p:cNvSpPr/>
          <p:nvPr/>
        </p:nvSpPr>
        <p:spPr>
          <a:xfrm>
            <a:off x="6591511" y="1245996"/>
            <a:ext cx="1663529" cy="9525"/>
          </a:xfrm>
          <a:prstGeom prst="rect">
            <a:avLst/>
          </a:prstGeom>
          <a:solidFill>
            <a:srgbClr val="CBA877"/>
          </a:solidFill>
          <a:ln/>
        </p:spPr>
      </p:sp>
      <p:sp>
        <p:nvSpPr>
          <p:cNvPr id="19" name="Text 16"/>
          <p:cNvSpPr/>
          <p:nvPr/>
        </p:nvSpPr>
        <p:spPr>
          <a:xfrm>
            <a:off x="6537891" y="1385183"/>
            <a:ext cx="768075" cy="240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i="1" dirty="0">
                <a:solidFill>
                  <a:srgbClr val="9E5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FamilyPause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7854780" y="1530255"/>
            <a:ext cx="427077" cy="132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spc="90" kern="0" dirty="0">
                <a:solidFill>
                  <a:srgbClr val="6A5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52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563910" y="1640073"/>
            <a:ext cx="555201" cy="170791"/>
          </a:xfrm>
          <a:prstGeom prst="roundRect">
            <a:avLst>
              <a:gd name="adj" fmla="val 33462"/>
            </a:avLst>
          </a:prstGeom>
          <a:solidFill>
            <a:srgbClr val="F5D8CC"/>
          </a:solidFill>
          <a:ln/>
        </p:spPr>
      </p:sp>
      <p:sp>
        <p:nvSpPr>
          <p:cNvPr id="22" name="Text 19"/>
          <p:cNvSpPr/>
          <p:nvPr/>
        </p:nvSpPr>
        <p:spPr>
          <a:xfrm>
            <a:off x="6649635" y="1697223"/>
            <a:ext cx="383751" cy="94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132" kern="0" dirty="0">
                <a:solidFill>
                  <a:srgbClr val="7A2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MARRIAGE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474716" y="2029808"/>
            <a:ext cx="1771275" cy="968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75" i="1" dirty="0">
                <a:solidFill>
                  <a:srgbClr val="2E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did you feel most loved by me this past week? Was it something I did — or something I said?</a:t>
            </a:r>
            <a:endParaRPr lang="en-US" sz="1875" dirty="0"/>
          </a:p>
        </p:txBody>
      </p:sp>
      <p:sp>
        <p:nvSpPr>
          <p:cNvPr id="24" name="Shape 21"/>
          <p:cNvSpPr/>
          <p:nvPr/>
        </p:nvSpPr>
        <p:spPr>
          <a:xfrm>
            <a:off x="6493458" y="3120593"/>
            <a:ext cx="1663338" cy="93027"/>
          </a:xfrm>
          <a:prstGeom prst="rect">
            <a:avLst/>
          </a:prstGeom>
          <a:solidFill>
            <a:srgbClr val="CBA877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823" y="3261097"/>
            <a:ext cx="133073" cy="18335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433950" y="3468373"/>
            <a:ext cx="1742719" cy="191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98" kern="0" dirty="0">
                <a:solidFill>
                  <a:srgbClr val="6A5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CARD · ONE WEEK · ONE CONVERSATION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6427991" y="3582071"/>
            <a:ext cx="1742720" cy="191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105" kern="0" dirty="0">
                <a:solidFill>
                  <a:srgbClr val="A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6459724" y="3849629"/>
            <a:ext cx="1664456" cy="9525"/>
          </a:xfrm>
          <a:prstGeom prst="rect">
            <a:avLst/>
          </a:prstGeom>
          <a:solidFill>
            <a:srgbClr val="CBA877"/>
          </a:solidFill>
          <a:ln/>
        </p:spPr>
      </p:sp>
      <p:sp>
        <p:nvSpPr>
          <p:cNvPr id="29" name="Shape 25"/>
          <p:cNvSpPr/>
          <p:nvPr/>
        </p:nvSpPr>
        <p:spPr>
          <a:xfrm>
            <a:off x="6459724" y="3742957"/>
            <a:ext cx="1664456" cy="9525"/>
          </a:xfrm>
          <a:prstGeom prst="rect">
            <a:avLst/>
          </a:prstGeom>
          <a:solidFill>
            <a:srgbClr val="CBA877"/>
          </a:solidFill>
          <a:ln/>
        </p:spPr>
      </p:sp>
      <p:sp>
        <p:nvSpPr>
          <p:cNvPr id="30" name="Text 26"/>
          <p:cNvSpPr/>
          <p:nvPr/>
        </p:nvSpPr>
        <p:spPr>
          <a:xfrm>
            <a:off x="4909004" y="4107284"/>
            <a:ext cx="2678718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135" kern="0" dirty="0">
                <a:solidFill>
                  <a:srgbClr val="A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&amp; BACK · 52 CARDS IN THE DECK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3757006" y="4483522"/>
            <a:ext cx="498278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206" kern="0" dirty="0">
                <a:solidFill>
                  <a:srgbClr val="B85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2026 DECK</a:t>
            </a:r>
            <a:endParaRPr lang="en-US" sz="825" dirty="0"/>
          </a:p>
        </p:txBody>
      </p:sp>
      <p:sp>
        <p:nvSpPr>
          <p:cNvPr id="32" name="Text 28"/>
          <p:cNvSpPr/>
          <p:nvPr/>
        </p:nvSpPr>
        <p:spPr>
          <a:xfrm>
            <a:off x="3757006" y="4716884"/>
            <a:ext cx="4982788" cy="382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2250" dirty="0">
                <a:solidFill>
                  <a:srgbClr val="2E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question to sit with </a:t>
            </a:r>
            <a:pPr algn="ctr" indent="0" marL="0">
              <a:lnSpc>
                <a:spcPct val="114000"/>
              </a:lnSpc>
              <a:buNone/>
            </a:pPr>
            <a:r>
              <a:rPr lang="en-US" sz="2250" i="1" dirty="0">
                <a:solidFill>
                  <a:srgbClr val="B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you record</a:t>
            </a:r>
            <a:endParaRPr lang="en-US" sz="2250" dirty="0"/>
          </a:p>
        </p:txBody>
      </p:sp>
      <p:sp>
        <p:nvSpPr>
          <p:cNvPr id="33" name="Text 29"/>
          <p:cNvSpPr/>
          <p:nvPr/>
        </p:nvSpPr>
        <p:spPr>
          <a:xfrm>
            <a:off x="4384358" y="5194995"/>
            <a:ext cx="372808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A5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card opens one honest conversation. 52 of them — one per week — that go deeper than the to-do list.</a:t>
            </a:r>
            <a:endParaRPr lang="en-US" sz="1125" dirty="0"/>
          </a:p>
        </p:txBody>
      </p:sp>
      <p:sp>
        <p:nvSpPr>
          <p:cNvPr id="34" name="Shape 30"/>
          <p:cNvSpPr/>
          <p:nvPr/>
        </p:nvSpPr>
        <p:spPr>
          <a:xfrm>
            <a:off x="4533900" y="5937945"/>
            <a:ext cx="3429000" cy="461963"/>
          </a:xfrm>
          <a:prstGeom prst="roundRect">
            <a:avLst>
              <a:gd name="adj" fmla="val 20619"/>
            </a:avLst>
          </a:prstGeom>
          <a:solidFill>
            <a:srgbClr val="B85C38"/>
          </a:solidFill>
          <a:ln/>
          <a:effectLst>
            <a:outerShdw sx="100000" sy="100000" kx="0" ky="0" algn="bl" rotWithShape="0" blurRad="152400" dist="38100" dir="5400000">
              <a:srgbClr val="B85C38">
                <a:alpha val="26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4615815" y="6071295"/>
            <a:ext cx="3265170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 the deck — enter my code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4533900" y="6495157"/>
            <a:ext cx="3429000" cy="481012"/>
          </a:xfrm>
          <a:prstGeom prst="roundRect">
            <a:avLst>
              <a:gd name="adj" fmla="val 19802"/>
            </a:avLst>
          </a:prstGeom>
          <a:solidFill>
            <a:srgbClr val="FAF0D4"/>
          </a:solidFill>
          <a:ln w="9525">
            <a:solidFill>
              <a:srgbClr val="C49A3C">
                <a:alpha val="30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625340" y="6638032"/>
            <a:ext cx="324612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A4A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the card deck — $24 →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4533900" y="7071420"/>
            <a:ext cx="3429000" cy="452438"/>
          </a:xfrm>
          <a:prstGeom prst="roundRect">
            <a:avLst>
              <a:gd name="adj" fmla="val 21053"/>
            </a:avLst>
          </a:prstGeom>
          <a:ln w="9525">
            <a:solidFill>
              <a:srgbClr val="D8CFC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625340" y="7214295"/>
            <a:ext cx="3246120" cy="204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6A5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 — start session without a card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23600" y="838200"/>
            <a:ext cx="3649599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206" kern="0" dirty="0">
                <a:solidFill>
                  <a:srgbClr val="B85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WEEK'S CARD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4423600" y="1033462"/>
            <a:ext cx="364959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9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Foundations · Year One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610100" y="1466850"/>
            <a:ext cx="3276600" cy="4576763"/>
          </a:xfrm>
          <a:prstGeom prst="roundRect">
            <a:avLst>
              <a:gd name="adj" fmla="val 5814"/>
            </a:avLst>
          </a:prstGeom>
          <a:solidFill>
            <a:srgbClr val="FBF6EC"/>
          </a:solidFill>
          <a:ln/>
          <a:effectLst>
            <a:outerShdw sx="100000" sy="100000" kx="0" ky="0" algn="bl" rotWithShape="0" blurRad="476250" dist="152400" dir="5400000">
              <a:srgbClr val="2E282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10100" y="1466850"/>
            <a:ext cx="66675" cy="4576763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6" name="Shape 4"/>
          <p:cNvSpPr/>
          <p:nvPr/>
        </p:nvSpPr>
        <p:spPr>
          <a:xfrm>
            <a:off x="4933950" y="1752600"/>
            <a:ext cx="2686050" cy="9525"/>
          </a:xfrm>
          <a:prstGeom prst="rect">
            <a:avLst/>
          </a:prstGeom>
          <a:solidFill>
            <a:srgbClr val="CBA877"/>
          </a:solidFill>
          <a:ln/>
        </p:spPr>
      </p:sp>
      <p:sp>
        <p:nvSpPr>
          <p:cNvPr id="7" name="Shape 5"/>
          <p:cNvSpPr/>
          <p:nvPr/>
        </p:nvSpPr>
        <p:spPr>
          <a:xfrm>
            <a:off x="4933950" y="1714500"/>
            <a:ext cx="2686050" cy="9525"/>
          </a:xfrm>
          <a:prstGeom prst="rect">
            <a:avLst/>
          </a:prstGeom>
          <a:solidFill>
            <a:srgbClr val="CBA877"/>
          </a:solidFill>
          <a:ln/>
        </p:spPr>
      </p:sp>
      <p:sp>
        <p:nvSpPr>
          <p:cNvPr id="8" name="Text 6"/>
          <p:cNvSpPr/>
          <p:nvPr/>
        </p:nvSpPr>
        <p:spPr>
          <a:xfrm>
            <a:off x="4933950" y="1971675"/>
            <a:ext cx="11795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i="1" dirty="0">
                <a:solidFill>
                  <a:srgbClr val="9E5B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FamilyPause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7059811" y="2090738"/>
            <a:ext cx="636389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6A5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52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3950" y="2381250"/>
            <a:ext cx="884783" cy="233362"/>
          </a:xfrm>
          <a:prstGeom prst="roundRect">
            <a:avLst>
              <a:gd name="adj" fmla="val 24490"/>
            </a:avLst>
          </a:prstGeom>
          <a:solidFill>
            <a:srgbClr val="F5D8CC"/>
          </a:solidFill>
          <a:ln/>
        </p:spPr>
      </p:sp>
      <p:sp>
        <p:nvSpPr>
          <p:cNvPr id="11" name="Text 9"/>
          <p:cNvSpPr/>
          <p:nvPr/>
        </p:nvSpPr>
        <p:spPr>
          <a:xfrm>
            <a:off x="5057775" y="2438400"/>
            <a:ext cx="713333" cy="157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7A2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MARRIAGE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912709" y="2862263"/>
            <a:ext cx="2728532" cy="170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75" i="1" dirty="0">
                <a:solidFill>
                  <a:srgbClr val="2E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did you feel most loved by me this past week? Was it something I did — or something I said?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4933950" y="4776788"/>
            <a:ext cx="2686050" cy="9525"/>
          </a:xfrm>
          <a:prstGeom prst="rect">
            <a:avLst/>
          </a:prstGeom>
          <a:solidFill>
            <a:srgbClr val="CBA877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6963" y="4938713"/>
            <a:ext cx="200025" cy="28575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893659" y="5338763"/>
            <a:ext cx="2766632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98" kern="0" dirty="0">
                <a:solidFill>
                  <a:srgbClr val="6A5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CARD · ONE WEEK · ONE CONVERSATION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893659" y="5524500"/>
            <a:ext cx="2766632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spc="105" kern="0" dirty="0">
                <a:solidFill>
                  <a:srgbClr val="A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933950" y="5824538"/>
            <a:ext cx="2686050" cy="9525"/>
          </a:xfrm>
          <a:prstGeom prst="rect">
            <a:avLst/>
          </a:prstGeom>
          <a:solidFill>
            <a:srgbClr val="CBA877"/>
          </a:solidFill>
          <a:ln/>
        </p:spPr>
      </p:sp>
      <p:sp>
        <p:nvSpPr>
          <p:cNvPr id="18" name="Shape 15"/>
          <p:cNvSpPr/>
          <p:nvPr/>
        </p:nvSpPr>
        <p:spPr>
          <a:xfrm>
            <a:off x="4933950" y="5786438"/>
            <a:ext cx="2686050" cy="9525"/>
          </a:xfrm>
          <a:prstGeom prst="rect">
            <a:avLst/>
          </a:prstGeom>
          <a:solidFill>
            <a:srgbClr val="CBA877"/>
          </a:solidFill>
          <a:ln/>
        </p:spPr>
      </p:sp>
      <p:sp>
        <p:nvSpPr>
          <p:cNvPr id="19" name="Text 16"/>
          <p:cNvSpPr/>
          <p:nvPr/>
        </p:nvSpPr>
        <p:spPr>
          <a:xfrm>
            <a:off x="4423600" y="6253163"/>
            <a:ext cx="3649599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165" kern="0" dirty="0">
                <a:solidFill>
                  <a:srgbClr val="A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IT TOGETHER. SIT WITH IT FOR A MOMENT.</a:t>
            </a:r>
            <a:endParaRPr lang="en-US" sz="825" dirty="0"/>
          </a:p>
        </p:txBody>
      </p:sp>
      <p:sp>
        <p:nvSpPr>
          <p:cNvPr id="20" name="Shape 17"/>
          <p:cNvSpPr/>
          <p:nvPr/>
        </p:nvSpPr>
        <p:spPr>
          <a:xfrm>
            <a:off x="4819650" y="6700838"/>
            <a:ext cx="2857500" cy="461963"/>
          </a:xfrm>
          <a:prstGeom prst="roundRect">
            <a:avLst>
              <a:gd name="adj" fmla="val 20619"/>
            </a:avLst>
          </a:prstGeom>
          <a:solidFill>
            <a:srgbClr val="4A6741"/>
          </a:solidFill>
          <a:ln/>
          <a:effectLst>
            <a:outerShdw sx="100000" sy="100000" kx="0" ky="0" algn="bl" rotWithShape="0" blurRad="152400" dist="38100" dir="5400000">
              <a:srgbClr val="4A6741">
                <a:alpha val="26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980" y="6855619"/>
            <a:ext cx="133350" cy="1524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790530" y="6834188"/>
            <a:ext cx="1201489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Recording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583585" y="7296150"/>
            <a:ext cx="13296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u="sng" dirty="0">
                <a:solidFill>
                  <a:srgbClr val="B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 a different card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38650" y="804863"/>
            <a:ext cx="5604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A09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← Back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4476750" y="1200150"/>
            <a:ext cx="3649599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206" kern="0" dirty="0">
                <a:solidFill>
                  <a:srgbClr val="B85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 CARDS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476750" y="1414463"/>
            <a:ext cx="3649599" cy="382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250" dirty="0">
                <a:solidFill>
                  <a:srgbClr val="2E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your </a:t>
            </a:r>
            <a:pPr algn="l" indent="0" marL="0">
              <a:lnSpc>
                <a:spcPct val="114000"/>
              </a:lnSpc>
              <a:buNone/>
            </a:pPr>
            <a:r>
              <a:rPr lang="en-US" sz="2250" i="1" dirty="0">
                <a:solidFill>
                  <a:srgbClr val="B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 deck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476750" y="1873523"/>
            <a:ext cx="364959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A5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Unlock the weekly card draw with a physical deck code, or purchase digital access.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4476750" y="2597423"/>
            <a:ext cx="3543300" cy="381000"/>
          </a:xfrm>
          <a:prstGeom prst="roundRect">
            <a:avLst>
              <a:gd name="adj" fmla="val 25000"/>
            </a:avLst>
          </a:prstGeom>
          <a:solidFill>
            <a:srgbClr val="E8E0D0"/>
          </a:solidFill>
          <a:ln/>
        </p:spPr>
      </p:sp>
      <p:sp>
        <p:nvSpPr>
          <p:cNvPr id="7" name="Shape 5"/>
          <p:cNvSpPr/>
          <p:nvPr/>
        </p:nvSpPr>
        <p:spPr>
          <a:xfrm>
            <a:off x="4505325" y="2625998"/>
            <a:ext cx="1728788" cy="323850"/>
          </a:xfrm>
          <a:prstGeom prst="roundRect">
            <a:avLst>
              <a:gd name="adj" fmla="val 23529"/>
            </a:avLst>
          </a:prstGeom>
          <a:solidFill>
            <a:srgbClr val="FAF7F2"/>
          </a:solidFill>
          <a:ln/>
          <a:effectLst>
            <a:outerShdw sx="100000" sy="100000" kx="0" ky="0" algn="bl" rotWithShape="0" blurRad="38100" dist="9525" dir="5400000">
              <a:srgbClr val="2E282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43425" y="2721248"/>
            <a:ext cx="165258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E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 the deck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00787" y="2721248"/>
            <a:ext cx="165258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09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 digital $12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476750" y="3207023"/>
            <a:ext cx="3649599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A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DECK CODE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4476750" y="3402285"/>
            <a:ext cx="3543300" cy="538163"/>
          </a:xfrm>
          <a:prstGeom prst="roundRect">
            <a:avLst>
              <a:gd name="adj" fmla="val 14159"/>
            </a:avLst>
          </a:prstGeom>
          <a:solidFill>
            <a:srgbClr val="FAF7F2"/>
          </a:solidFill>
          <a:ln w="9525">
            <a:solidFill>
              <a:srgbClr val="D8C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6750" y="4035698"/>
            <a:ext cx="364959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A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 INSIDE THE LID OF YOUR FAMILYPAUSE CARD DECK BOX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76750" y="4350023"/>
            <a:ext cx="3543300" cy="461963"/>
          </a:xfrm>
          <a:prstGeom prst="roundRect">
            <a:avLst>
              <a:gd name="adj" fmla="val 20619"/>
            </a:avLst>
          </a:prstGeom>
          <a:solidFill>
            <a:srgbClr val="B85C38"/>
          </a:solidFill>
          <a:ln/>
          <a:effectLst>
            <a:outerShdw sx="100000" sy="100000" kx="0" ky="0" algn="bl" rotWithShape="0" blurRad="152400" dist="38100" dir="5400000">
              <a:srgbClr val="B85C38">
                <a:alpha val="2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56950" y="4483373"/>
            <a:ext cx="3382899" cy="233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Unlock My Cards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76750" y="4964385"/>
            <a:ext cx="3543300" cy="1120006"/>
          </a:xfrm>
          <a:prstGeom prst="roundRect">
            <a:avLst>
              <a:gd name="adj" fmla="val 8504"/>
            </a:avLst>
          </a:prstGeom>
          <a:solidFill>
            <a:srgbClr val="FAF0D4"/>
          </a:solidFill>
          <a:ln w="9525">
            <a:solidFill>
              <a:srgbClr val="C49A3C">
                <a:alpha val="2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8675" y="5126310"/>
            <a:ext cx="331603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6A4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 HAVE THE DECK YET?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638675" y="5302523"/>
            <a:ext cx="3316034" cy="658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6A5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the physical card deck at </a:t>
            </a:r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6A5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familypause.com/cards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6A5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$24 — includes all 52 cards and unlocks this digital feature.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1400" y="657225"/>
            <a:ext cx="5604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A09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← Back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4256112" y="571500"/>
            <a:ext cx="162051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A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CARDS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256112" y="690563"/>
            <a:ext cx="162051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E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 Deck Library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19500" y="1252538"/>
            <a:ext cx="541553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A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DECKS</a:t>
            </a:r>
            <a:endParaRPr lang="en-US" sz="825" dirty="0"/>
          </a:p>
        </p:txBody>
      </p:sp>
      <p:sp>
        <p:nvSpPr>
          <p:cNvPr id="6" name="Shape 4"/>
          <p:cNvSpPr/>
          <p:nvPr/>
        </p:nvSpPr>
        <p:spPr>
          <a:xfrm>
            <a:off x="3619500" y="1504950"/>
            <a:ext cx="5257800" cy="1928813"/>
          </a:xfrm>
          <a:prstGeom prst="roundRect">
            <a:avLst>
              <a:gd name="adj" fmla="val 6914"/>
            </a:avLst>
          </a:prstGeom>
          <a:solidFill>
            <a:srgbClr val="F0EAE0"/>
          </a:solidFill>
          <a:ln/>
        </p:spPr>
      </p:sp>
      <p:sp>
        <p:nvSpPr>
          <p:cNvPr id="7" name="Shape 5"/>
          <p:cNvSpPr/>
          <p:nvPr/>
        </p:nvSpPr>
        <p:spPr>
          <a:xfrm>
            <a:off x="3619500" y="1504950"/>
            <a:ext cx="38100" cy="1928813"/>
          </a:xfrm>
          <a:prstGeom prst="rect">
            <a:avLst/>
          </a:prstGeom>
          <a:solidFill>
            <a:srgbClr val="B85C38"/>
          </a:solidFill>
          <a:ln/>
        </p:spPr>
      </p:sp>
      <p:sp>
        <p:nvSpPr>
          <p:cNvPr id="8" name="Text 6"/>
          <p:cNvSpPr/>
          <p:nvPr/>
        </p:nvSpPr>
        <p:spPr>
          <a:xfrm>
            <a:off x="3886200" y="1695450"/>
            <a:ext cx="107372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2E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Deck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978971" y="1726406"/>
            <a:ext cx="819448" cy="176213"/>
          </a:xfrm>
          <a:prstGeom prst="roundRect">
            <a:avLst>
              <a:gd name="adj" fmla="val 50000"/>
            </a:avLst>
          </a:prstGeom>
          <a:solidFill>
            <a:srgbClr val="D8E8D4"/>
          </a:solidFill>
          <a:ln/>
        </p:spPr>
      </p:sp>
      <p:sp>
        <p:nvSpPr>
          <p:cNvPr id="10" name="Text 8"/>
          <p:cNvSpPr/>
          <p:nvPr/>
        </p:nvSpPr>
        <p:spPr>
          <a:xfrm>
            <a:off x="5064696" y="1754981"/>
            <a:ext cx="72419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1E3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UNLOCKED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86200" y="2000250"/>
            <a:ext cx="423655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99" kern="0" dirty="0">
                <a:solidFill>
                  <a:srgbClr val="A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FOUNDATIONS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86200" y="2166938"/>
            <a:ext cx="42365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A5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 questions that go deeper than the to-do list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51763" y="1695450"/>
            <a:ext cx="57313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dirty="0">
                <a:solidFill>
                  <a:srgbClr val="F5D8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3886200" y="2471738"/>
            <a:ext cx="4762500" cy="9525"/>
          </a:xfrm>
          <a:prstGeom prst="rect">
            <a:avLst/>
          </a:prstGeom>
          <a:solidFill>
            <a:srgbClr val="D8CFC0"/>
          </a:solidFill>
          <a:ln/>
        </p:spPr>
      </p:sp>
      <p:sp>
        <p:nvSpPr>
          <p:cNvPr id="15" name="Shape 13"/>
          <p:cNvSpPr/>
          <p:nvPr/>
        </p:nvSpPr>
        <p:spPr>
          <a:xfrm>
            <a:off x="3886200" y="2614613"/>
            <a:ext cx="1013594" cy="166688"/>
          </a:xfrm>
          <a:prstGeom prst="roundRect">
            <a:avLst>
              <a:gd name="adj" fmla="val 50000"/>
            </a:avLst>
          </a:prstGeom>
          <a:solidFill>
            <a:srgbClr val="FAF0D4"/>
          </a:solidFill>
          <a:ln/>
        </p:spPr>
      </p:sp>
      <p:sp>
        <p:nvSpPr>
          <p:cNvPr id="16" name="Text 14"/>
          <p:cNvSpPr/>
          <p:nvPr/>
        </p:nvSpPr>
        <p:spPr>
          <a:xfrm>
            <a:off x="3971925" y="2643188"/>
            <a:ext cx="918344" cy="147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6A4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FINANCES · 10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956944" y="2614613"/>
            <a:ext cx="754484" cy="166688"/>
          </a:xfrm>
          <a:prstGeom prst="roundRect">
            <a:avLst>
              <a:gd name="adj" fmla="val 50000"/>
            </a:avLst>
          </a:prstGeom>
          <a:solidFill>
            <a:srgbClr val="D8E8D4"/>
          </a:solidFill>
          <a:ln/>
        </p:spPr>
      </p:sp>
      <p:sp>
        <p:nvSpPr>
          <p:cNvPr id="18" name="Text 16"/>
          <p:cNvSpPr/>
          <p:nvPr/>
        </p:nvSpPr>
        <p:spPr>
          <a:xfrm>
            <a:off x="5042669" y="2643188"/>
            <a:ext cx="659234" cy="147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1E3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KIDS · 10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768578" y="2614613"/>
            <a:ext cx="1013594" cy="166688"/>
          </a:xfrm>
          <a:prstGeom prst="roundRect">
            <a:avLst>
              <a:gd name="adj" fmla="val 50000"/>
            </a:avLst>
          </a:prstGeom>
          <a:solidFill>
            <a:srgbClr val="F5D8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54303" y="2643188"/>
            <a:ext cx="918344" cy="147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7A2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MARRIAGE · 10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39322" y="2614613"/>
            <a:ext cx="754484" cy="166688"/>
          </a:xfrm>
          <a:prstGeom prst="roundRect">
            <a:avLst>
              <a:gd name="adj" fmla="val 50000"/>
            </a:avLst>
          </a:prstGeom>
          <a:solidFill>
            <a:srgbClr val="EDE8D4"/>
          </a:solidFill>
          <a:ln/>
        </p:spPr>
      </p:sp>
      <p:sp>
        <p:nvSpPr>
          <p:cNvPr id="22" name="Text 20"/>
          <p:cNvSpPr/>
          <p:nvPr/>
        </p:nvSpPr>
        <p:spPr>
          <a:xfrm>
            <a:off x="6925047" y="2643188"/>
            <a:ext cx="659234" cy="147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5A4A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 · 8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650956" y="2614613"/>
            <a:ext cx="819299" cy="166688"/>
          </a:xfrm>
          <a:prstGeom prst="roundRect">
            <a:avLst>
              <a:gd name="adj" fmla="val 50000"/>
            </a:avLst>
          </a:prstGeom>
          <a:solidFill>
            <a:srgbClr val="E8E0F0"/>
          </a:solidFill>
          <a:ln/>
        </p:spPr>
      </p:sp>
      <p:sp>
        <p:nvSpPr>
          <p:cNvPr id="24" name="Text 22"/>
          <p:cNvSpPr/>
          <p:nvPr/>
        </p:nvSpPr>
        <p:spPr>
          <a:xfrm>
            <a:off x="7736681" y="2643188"/>
            <a:ext cx="724049" cy="147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3A1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DREAMS · 8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886200" y="2838450"/>
            <a:ext cx="689744" cy="166688"/>
          </a:xfrm>
          <a:prstGeom prst="roundRect">
            <a:avLst>
              <a:gd name="adj" fmla="val 50000"/>
            </a:avLst>
          </a:prstGeom>
          <a:solidFill>
            <a:srgbClr val="F0EAE0"/>
          </a:solidFill>
          <a:ln/>
        </p:spPr>
      </p:sp>
      <p:sp>
        <p:nvSpPr>
          <p:cNvPr id="26" name="Text 24"/>
          <p:cNvSpPr/>
          <p:nvPr/>
        </p:nvSpPr>
        <p:spPr>
          <a:xfrm>
            <a:off x="3971925" y="2867025"/>
            <a:ext cx="594494" cy="147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60" kern="0" dirty="0">
                <a:solidFill>
                  <a:srgbClr val="6A5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 · 6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886200" y="3119438"/>
            <a:ext cx="49053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A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THESE CARDS ARE YOURS PERMANENTLY. NO EXPIRATION.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619500" y="3776662"/>
            <a:ext cx="541553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A09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THIS YEAR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3619500" y="4029075"/>
            <a:ext cx="5257800" cy="2363093"/>
          </a:xfrm>
          <a:prstGeom prst="roundRect">
            <a:avLst>
              <a:gd name="adj" fmla="val 6449"/>
            </a:avLst>
          </a:prstGeom>
          <a:solidFill>
            <a:srgbClr val="F5D8CC"/>
          </a:solidFill>
          <a:ln/>
        </p:spPr>
      </p:sp>
      <p:sp>
        <p:nvSpPr>
          <p:cNvPr id="30" name="Shape 28"/>
          <p:cNvSpPr/>
          <p:nvPr/>
        </p:nvSpPr>
        <p:spPr>
          <a:xfrm>
            <a:off x="7639050" y="3552825"/>
            <a:ext cx="1714500" cy="17145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886200" y="4295775"/>
            <a:ext cx="4866132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B85C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2027 DECK AVAILABLE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886200" y="4500563"/>
            <a:ext cx="48661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2E2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2027: Legacy and Vision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3886200" y="4857750"/>
            <a:ext cx="486613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i="1" dirty="0">
                <a:solidFill>
                  <a:srgbClr val="6A5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 questions about where you're going and who you're becoming.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3886200" y="5138738"/>
            <a:ext cx="4866132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6A5A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2026 cards never expire — keep using them as long as you like. The 2027 deck is here whenever you're ready.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3886200" y="5725418"/>
            <a:ext cx="2305050" cy="400050"/>
          </a:xfrm>
          <a:prstGeom prst="roundRect">
            <a:avLst>
              <a:gd name="adj" fmla="val 23810"/>
            </a:avLst>
          </a:prstGeom>
          <a:solidFill>
            <a:srgbClr val="B85C38"/>
          </a:solidFill>
          <a:ln/>
          <a:effectLst>
            <a:outerShdw sx="100000" sy="100000" kx="0" ky="0" algn="bl" rotWithShape="0" blurRad="133350" dist="38100" dir="5400000">
              <a:srgbClr val="B85C38">
                <a:alpha val="2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000500" y="5839718"/>
            <a:ext cx="2076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AF7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the 2027 Deck →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86500" y="5725418"/>
            <a:ext cx="2324100" cy="400050"/>
          </a:xfrm>
          <a:prstGeom prst="roundRect">
            <a:avLst>
              <a:gd name="adj" fmla="val 23810"/>
            </a:avLst>
          </a:prstGeom>
          <a:ln w="9525">
            <a:solidFill>
              <a:srgbClr val="B85C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0325" y="5849243"/>
            <a:ext cx="20764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the physical deck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540633" y="6620768"/>
            <a:ext cx="541553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u="sng" dirty="0">
                <a:solidFill>
                  <a:srgbClr val="B85C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Enter another deck code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2026-06-13T07:31:12Z</dcterms:created>
  <dcterms:modified xsi:type="dcterms:W3CDTF">2026-06-13T07:31:12Z</dcterms:modified>
</cp:coreProperties>
</file>